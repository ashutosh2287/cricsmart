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808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4114800" cy="4114800"/>
          </a:xfrm>
          <a:prstGeom prst="ellipse">
            <a:avLst/>
          </a:prstGeom>
          <a:solidFill>
            <a:srgbClr val="1B7A3E">
              <a:alpha val="15000"/>
            </a:srgbClr>
          </a:solidFill>
          <a:ln w="19050">
            <a:solidFill>
              <a:srgbClr val="1B7A3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1B7A3E">
              <a:alpha val="15000"/>
            </a:srgbClr>
          </a:solidFill>
          <a:ln w="19050">
            <a:solidFill>
              <a:srgbClr val="1B7A3E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1B7A3E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2344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CricSmart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188720" y="2011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Cricket Match Simulation &amp; Analytics Platform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88720" y="2514600"/>
            <a:ext cx="5029200" cy="3657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69748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Ashutosh Anand  |  Roll No. SG22310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 Computer Science &amp; Engineering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UIET, Panjab University SSG Regional Centre, Hoshiarpur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Training at Unified Mentor, Gurugram  |  Jan – May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Mr. Ishant Sethi, Unified Mentor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CHAPTER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Company Profile – Unified Mentor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Unified Mentor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technology-driven IT organization based in Gurugram, India, focused on modern software solutions and practical industry training. Bridges the gap between academic learning and real-world software engineering.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Services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834640"/>
            <a:ext cx="82296" cy="82296"/>
          </a:xfrm>
          <a:prstGeom prst="ellipse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788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 Development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127248"/>
            <a:ext cx="82296" cy="82296"/>
          </a:xfrm>
          <a:prstGeom prst="ellipse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081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Design &amp; System Architecture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419856"/>
            <a:ext cx="82296" cy="82296"/>
          </a:xfrm>
          <a:prstGeom prst="ellipse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3741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Visualization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712464"/>
            <a:ext cx="82296" cy="82296"/>
          </a:xfrm>
          <a:prstGeom prst="ellipse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6667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Development &amp; Integration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4005072"/>
            <a:ext cx="82296" cy="82296"/>
          </a:xfrm>
          <a:prstGeom prst="ellipse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9593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Training &amp; Mentorship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3931920" cy="1645920"/>
          </a:xfrm>
          <a:prstGeom prst="roundRect">
            <a:avLst>
              <a:gd name="adj" fmla="val 6667"/>
            </a:avLst>
          </a:prstGeom>
          <a:solidFill>
            <a:srgbClr val="0A1628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Philosophy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141732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B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"Industry-oriented training in modern technologies — web development, cloud computing, and data analytics — with a focus on practical, project-based learning."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78892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Details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246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Trainee: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Ashutosh Anand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35387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35387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SG22310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8313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38313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 – May 2026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41239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41239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Ishant Sethi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1B7A3E">
              <a:alpha val="15000"/>
            </a:srgbClr>
          </a:solidFill>
          <a:ln w="19050">
            <a:solidFill>
              <a:srgbClr val="1B7A3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CHAPTER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114800" cy="3657600"/>
          </a:xfrm>
          <a:prstGeom prst="roundRect">
            <a:avLst>
              <a:gd name="adj" fmla="val 3000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 in Cricket Platforms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627632"/>
            <a:ext cx="45720" cy="347472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6276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offer static scorecards with no interactivity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157984"/>
            <a:ext cx="45720" cy="347472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15798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platform for simulation + analytics + hosting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688336"/>
            <a:ext cx="45720" cy="347472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68833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community/campus match hosting with live scoring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218688"/>
            <a:ext cx="45720" cy="347472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2186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extensible ML layer for win probability &amp; commentary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749040"/>
            <a:ext cx="45720" cy="347472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749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 addressing only one aspect at a time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51560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15727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15727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ball-by-ball cricket simulation engine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20116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SSE streaming with reconnect safety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24505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Replay, commentary &amp; analytics from event streams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92040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288950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match lifecycle for community matches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92040" y="3328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332841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security &amp; route access control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0" y="376732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ML workspace with feature flags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9204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42062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real-time UI with match analytics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CHAPTER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303520" cy="694944"/>
          </a:xfrm>
          <a:prstGeom prst="roundRect">
            <a:avLst>
              <a:gd name="adj" fmla="val 15789"/>
            </a:avLst>
          </a:prstGeom>
          <a:solidFill>
            <a:srgbClr val="DBEAFE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64008" cy="6949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0515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3167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App Router · React 19 · Tailwind CSS 4 · Recharts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5303520" cy="694944"/>
          </a:xfrm>
          <a:prstGeom prst="roundRect">
            <a:avLst>
              <a:gd name="adj" fmla="val 15789"/>
            </a:avLst>
          </a:prstGeom>
          <a:solidFill>
            <a:srgbClr val="DCFCE7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73936"/>
            <a:ext cx="64008" cy="694944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8196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20848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Handlers (src/app/api/*) · Custom Node.js server/index.ts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42032"/>
            <a:ext cx="5303520" cy="694944"/>
          </a:xfrm>
          <a:prstGeom prst="roundRect">
            <a:avLst>
              <a:gd name="adj" fmla="val 15789"/>
            </a:avLst>
          </a:prstGeom>
          <a:solidFill>
            <a:srgbClr val="FEF9C3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42032"/>
            <a:ext cx="64008" cy="694944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587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&amp; Domain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28529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Engine · Analytics Selectors · Commentary · Auth · Event Bus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5303520" cy="694944"/>
          </a:xfrm>
          <a:prstGeom prst="roundRect">
            <a:avLst>
              <a:gd name="adj" fmla="val 15789"/>
            </a:avLst>
          </a:prstGeom>
          <a:solidFill>
            <a:srgbClr val="FFE4E6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310128"/>
            <a:ext cx="64008" cy="69494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3558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Persistence Layer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362102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via Prisma ORM · Redis (sessions, runtime state)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078224"/>
            <a:ext cx="5303520" cy="694944"/>
          </a:xfrm>
          <a:prstGeom prst="roundRect">
            <a:avLst>
              <a:gd name="adj" fmla="val 15789"/>
            </a:avLst>
          </a:prstGeom>
          <a:solidFill>
            <a:srgbClr val="F3E8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078224"/>
            <a:ext cx="64008" cy="69494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1239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Integrations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" y="4389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CricAPI · Upstash Redis Rate-Limiting · FastAPI ML Inference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34640" y="1700784"/>
            <a:ext cx="0" cy="73152"/>
          </a:xfrm>
          <a:prstGeom prst="line">
            <a:avLst/>
          </a:prstGeom>
          <a:noFill/>
          <a:ln w="12700">
            <a:solidFill>
              <a:srgbClr val="5A6A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34640" y="2468880"/>
            <a:ext cx="0" cy="73152"/>
          </a:xfrm>
          <a:prstGeom prst="line">
            <a:avLst/>
          </a:prstGeom>
          <a:noFill/>
          <a:ln w="12700">
            <a:solidFill>
              <a:srgbClr val="5A6A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34640" y="3236976"/>
            <a:ext cx="0" cy="73152"/>
          </a:xfrm>
          <a:prstGeom prst="line">
            <a:avLst/>
          </a:prstGeom>
          <a:noFill/>
          <a:ln w="12700">
            <a:solidFill>
              <a:srgbClr val="5A6A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4640" y="4005072"/>
            <a:ext cx="0" cy="73152"/>
          </a:xfrm>
          <a:prstGeom prst="line">
            <a:avLst/>
          </a:prstGeom>
          <a:noFill/>
          <a:ln w="12700">
            <a:solidFill>
              <a:srgbClr val="5A6A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89320" y="1005840"/>
            <a:ext cx="2743200" cy="384048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26480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Pipeline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26480" y="1554480"/>
            <a:ext cx="2468880" cy="475488"/>
          </a:xfrm>
          <a:prstGeom prst="roundRect">
            <a:avLst>
              <a:gd name="adj" fmla="val 15385"/>
            </a:avLst>
          </a:prstGeom>
          <a:solidFill>
            <a:srgbClr val="1B7A3E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15819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Engine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17830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typed domain events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37960" y="2084832"/>
            <a:ext cx="0" cy="91440"/>
          </a:xfrm>
          <a:prstGeom prst="line">
            <a:avLst/>
          </a:prstGeom>
          <a:noFill/>
          <a:ln w="12700">
            <a:solidFill>
              <a:srgbClr val="2ECC7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2176272"/>
            <a:ext cx="2468880" cy="475488"/>
          </a:xfrm>
          <a:prstGeom prst="roundRect">
            <a:avLst>
              <a:gd name="adj" fmla="val 15385"/>
            </a:avLst>
          </a:prstGeom>
          <a:solidFill>
            <a:srgbClr val="1A3050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220370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Bus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63640" y="24048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3 consumers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537960" y="2706624"/>
            <a:ext cx="0" cy="91440"/>
          </a:xfrm>
          <a:prstGeom prst="line">
            <a:avLst/>
          </a:prstGeom>
          <a:noFill/>
          <a:ln w="12700">
            <a:solidFill>
              <a:srgbClr val="2ECC7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26480" y="2798064"/>
            <a:ext cx="2468880" cy="475488"/>
          </a:xfrm>
          <a:prstGeom prst="roundRect">
            <a:avLst>
              <a:gd name="adj" fmla="val 15385"/>
            </a:avLst>
          </a:prstGeom>
          <a:solidFill>
            <a:srgbClr val="162840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28254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Consumer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63640" y="30266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Broadcasts to browser clients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537960" y="3328416"/>
            <a:ext cx="0" cy="91440"/>
          </a:xfrm>
          <a:prstGeom prst="line">
            <a:avLst/>
          </a:prstGeom>
          <a:noFill/>
          <a:ln w="12700">
            <a:solidFill>
              <a:srgbClr val="2ECC7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26480" y="3419856"/>
            <a:ext cx="2468880" cy="475488"/>
          </a:xfrm>
          <a:prstGeom prst="roundRect">
            <a:avLst>
              <a:gd name="adj" fmla="val 15385"/>
            </a:avLst>
          </a:prstGeom>
          <a:solidFill>
            <a:srgbClr val="162840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3640" y="34472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Consumer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63640" y="364845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timeline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537960" y="3950208"/>
            <a:ext cx="0" cy="91440"/>
          </a:xfrm>
          <a:prstGeom prst="line">
            <a:avLst/>
          </a:prstGeom>
          <a:noFill/>
          <a:ln w="12700">
            <a:solidFill>
              <a:srgbClr val="2ECC7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26480" y="4041648"/>
            <a:ext cx="2468880" cy="475488"/>
          </a:xfrm>
          <a:prstGeom prst="roundRect">
            <a:avLst>
              <a:gd name="adj" fmla="val 15385"/>
            </a:avLst>
          </a:prstGeom>
          <a:solidFill>
            <a:srgbClr val="162840"/>
          </a:solidFill>
          <a:ln w="6350">
            <a:solidFill>
              <a:srgbClr val="2A40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40690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63640" y="42702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narration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1B7A3E">
              <a:alpha val="15000"/>
            </a:srgbClr>
          </a:solidFill>
          <a:ln w="19050">
            <a:solidFill>
              <a:srgbClr val="1B7A3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CHAPTER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2697480" cy="54864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155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16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3898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7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API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488" y="15727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SSR, API routes — unified fullstack framework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05840"/>
            <a:ext cx="2697480" cy="54864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11155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19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13898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55848" y="15727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model with concurrent rendering features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05840"/>
            <a:ext cx="2697480" cy="54864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11155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13898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17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36208" y="15727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codebase across frontend &amp; backend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33172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331720"/>
            <a:ext cx="269748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441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Tailwind CSS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" y="27157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" y="2898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 with minimal configuration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233172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2331720"/>
            <a:ext cx="2697480" cy="54864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2441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55848" y="27157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55848" y="2898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persistence via Prisma ORM (type-safe queries)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0" y="233172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331720"/>
            <a:ext cx="2697480" cy="54864"/>
          </a:xfrm>
          <a:prstGeom prst="rect">
            <a:avLst/>
          </a:prstGeom>
          <a:solidFill>
            <a:srgbClr val="DC382D"/>
          </a:solidFill>
          <a:ln w="12700">
            <a:solidFill>
              <a:srgbClr val="DC38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36208" y="2441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Redis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36208" y="271576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3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CACHE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36208" y="28986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storage, runtime match state, Upstash rate-limiting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365760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3657600"/>
            <a:ext cx="2697480" cy="54864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3767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Server-Sent Events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5488" y="40416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5488" y="42245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Unidirectional HTTP streaming — auto-reconnectable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46120" y="365760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46120" y="3657600"/>
            <a:ext cx="2697480" cy="54864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55848" y="3767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+ </a:t>
            </a:r>
            <a:r>
              <a:rPr lang="en-US" sz="1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Cricapi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355848" y="40416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9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INFERENCE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355848" y="42245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probability pipeline with feature-flag gated adoption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26480" y="3657600"/>
            <a:ext cx="2697480" cy="1143000"/>
          </a:xfrm>
          <a:prstGeom prst="roundRect">
            <a:avLst>
              <a:gd name="adj" fmla="val 9600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26480" y="3657600"/>
            <a:ext cx="269748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36208" y="3767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Recharts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236208" y="40416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UI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236208" y="42245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charts for momentum, run rate, win probability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CHAPTER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5943600" cy="347472"/>
          </a:xfrm>
          <a:prstGeom prst="roundRect">
            <a:avLst>
              <a:gd name="adj" fmla="val 31579"/>
            </a:avLst>
          </a:prstGeom>
          <a:solidFill>
            <a:srgbClr val="1B7A3E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87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9875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07592"/>
            <a:ext cx="594360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3624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13624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hashed credentials, role, owned teams &amp; hosted matches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5943600" cy="384048"/>
          </a:xfrm>
          <a:prstGeom prst="roundRect">
            <a:avLst>
              <a:gd name="adj" fmla="val 28571"/>
            </a:avLst>
          </a:prstGeom>
          <a:solidFill>
            <a:srgbClr val="EBF5EE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7922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17922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slug, visibility, city, logo, owner, followers, squad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67128"/>
            <a:ext cx="594360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2221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TeamMember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2219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User–Team mapping with role (OWNER/ADMIN/PLAYER/ANALYST)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96896"/>
            <a:ext cx="5943600" cy="384048"/>
          </a:xfrm>
          <a:prstGeom prst="roundRect">
            <a:avLst>
              <a:gd name="adj" fmla="val 28571"/>
            </a:avLst>
          </a:prstGeom>
          <a:solidFill>
            <a:srgbClr val="EBF5EE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PlayerProfile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2651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jersey, role (BAT/BOWL/AR/WK), snapshot stats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26664"/>
            <a:ext cx="594360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081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HostedMatch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30815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format, venue, status, tossWinner, battingFirst, XI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56432"/>
            <a:ext cx="5943600" cy="384048"/>
          </a:xfrm>
          <a:prstGeom prst="roundRect">
            <a:avLst>
              <a:gd name="adj" fmla="val 28571"/>
            </a:avLst>
          </a:prstGeom>
          <a:solidFill>
            <a:srgbClr val="EBF5EE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5112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11680" y="351129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Organizer-owned: name, format, startDate, endDate, location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886200"/>
            <a:ext cx="594360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39410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SavedMatch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11680" y="394106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bookmark linking user → hosted match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960120"/>
            <a:ext cx="2103120" cy="3977640"/>
          </a:xfrm>
          <a:prstGeom prst="roundRect">
            <a:avLst>
              <a:gd name="adj" fmla="val 5217"/>
            </a:avLst>
          </a:prstGeom>
          <a:solidFill>
            <a:srgbClr val="0A1628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20840" y="1051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Enums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20840" y="1417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MatchStatus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20840" y="16733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· SCHEDULED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· COMPLETED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20840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TossDecision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20840" y="25420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 · BOWL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20840" y="3154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TeamVisibility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20840" y="34107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· PRIVATE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INVITE_ONLY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20840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MemberRole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20840" y="4279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· ADMIN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· ANALYST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200400"/>
            <a:ext cx="3200400" cy="3200400"/>
          </a:xfrm>
          <a:prstGeom prst="ellipse">
            <a:avLst/>
          </a:prstGeom>
          <a:solidFill>
            <a:srgbClr val="1B7A3E">
              <a:alpha val="15000"/>
            </a:srgbClr>
          </a:solidFill>
          <a:ln w="19050">
            <a:solidFill>
              <a:srgbClr val="1B7A3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CHAPTER 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Modules &amp; Implementation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251960" cy="1188720"/>
          </a:xfrm>
          <a:prstGeom prst="roundRect">
            <a:avLst>
              <a:gd name="adj" fmla="val 9231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64008" cy="118872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115568"/>
            <a:ext cx="347472" cy="256032"/>
          </a:xfrm>
          <a:prstGeom prst="roundRect">
            <a:avLst>
              <a:gd name="adj" fmla="val 21429"/>
            </a:avLst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155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0972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 Simulation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44475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ball-by-ball events. Toss injection, speed controls (1x/2x/3x), pause/resume, playing XI seeding for known teams.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005840"/>
            <a:ext cx="4251960" cy="1188720"/>
          </a:xfrm>
          <a:prstGeom prst="roundRect">
            <a:avLst>
              <a:gd name="adj" fmla="val 9231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005840"/>
            <a:ext cx="64008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1115568"/>
            <a:ext cx="347472" cy="256032"/>
          </a:xfrm>
          <a:prstGeom prst="roundRect">
            <a:avLst>
              <a:gd name="adj" fmla="val 2142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1155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49240" y="10972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Hosted Match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44475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lifecycle: DRAFT → toss setup → playing XI → LIVE scoring console → COMPLETED. Manual ball entry with striker/bowler validation.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359152"/>
            <a:ext cx="4251960" cy="1188720"/>
          </a:xfrm>
          <a:prstGeom prst="roundRect">
            <a:avLst>
              <a:gd name="adj" fmla="val 9231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359152"/>
            <a:ext cx="64008" cy="11887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468880"/>
            <a:ext cx="347472" cy="256032"/>
          </a:xfrm>
          <a:prstGeom prst="roundRect">
            <a:avLst>
              <a:gd name="adj" fmla="val 21429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46888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24505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Realtime Streaming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279806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endpoint /api/realtime/[matchId]. Broadcasts BALL_EVENT, WICKET, WIN_PROBABILITY, COMMENTARY, MATCH_FINISHED. INITIAL_STATE on reconnect.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359152"/>
            <a:ext cx="4251960" cy="1188720"/>
          </a:xfrm>
          <a:prstGeom prst="roundRect">
            <a:avLst>
              <a:gd name="adj" fmla="val 9231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359152"/>
            <a:ext cx="64008" cy="1188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2468880"/>
            <a:ext cx="347472" cy="256032"/>
          </a:xfrm>
          <a:prstGeom prst="roundRect">
            <a:avLst>
              <a:gd name="adj" fmla="val 21429"/>
            </a:avLst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46888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49240" y="24505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2798064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trend, run rate progression, over worm chart, win probability curve, bowling economy, match highlights &amp; phase detection.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712464"/>
            <a:ext cx="4251960" cy="1188720"/>
          </a:xfrm>
          <a:prstGeom prst="roundRect">
            <a:avLst>
              <a:gd name="adj" fmla="val 9231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712464"/>
            <a:ext cx="64008" cy="11887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3822192"/>
            <a:ext cx="347472" cy="256032"/>
          </a:xfrm>
          <a:prstGeom prst="roundRect">
            <a:avLst>
              <a:gd name="adj" fmla="val 21429"/>
            </a:avLst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8221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" y="380390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Workspace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415137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probability (</a:t>
            </a:r>
            <a:r>
              <a:rPr lang="en-US" sz="100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Cricapi </a:t>
            </a: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FastAPI). Commentary intelligence (FAISS + ranker). Feature flags for zero-risk production adoption.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3712464"/>
            <a:ext cx="4251960" cy="1188720"/>
          </a:xfrm>
          <a:prstGeom prst="roundRect">
            <a:avLst>
              <a:gd name="adj" fmla="val 9231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0600" y="3712464"/>
            <a:ext cx="64008" cy="1188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37760" y="3822192"/>
            <a:ext cx="347472" cy="256032"/>
          </a:xfrm>
          <a:prstGeom prst="roundRect">
            <a:avLst>
              <a:gd name="adj" fmla="val 21429"/>
            </a:avLst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382219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49240" y="380390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&amp; Account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937760" y="415137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+ Zod validation. Redis session with TTL/rotation. Middleware route gating. Account dashboard: teams, matches, tournaments.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CHAPTER 7 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Realtime Streaming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566160" cy="37490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15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SSE Event Types Broadcast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3337560" cy="438912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0160">
            <a:solidFill>
              <a:srgbClr val="1B7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361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BALL_EVENT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71907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match state: score, wickets, over, ball, innings context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" y="2029968"/>
            <a:ext cx="3337560" cy="438912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016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0574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2402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Dismissal details: batsman, kind (caught/bowled/lbw)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2551176"/>
            <a:ext cx="3337560" cy="438912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5786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WIN_PROBABILITY_UPDATE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7614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Home/away probability values with delta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" y="3072384"/>
            <a:ext cx="3337560" cy="438912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016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09981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2826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with tone (dramatic/neutral), isBoundary, isWicket flags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" y="3593592"/>
            <a:ext cx="3337560" cy="438912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0160">
            <a:solidFill>
              <a:srgbClr val="F4C4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210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MATCH_FINISHED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380390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state with winner and win-by details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4114800"/>
            <a:ext cx="3337560" cy="438912"/>
          </a:xfrm>
          <a:prstGeom prst="roundRect">
            <a:avLst>
              <a:gd name="adj" fmla="val 12500"/>
            </a:avLst>
          </a:prstGeom>
          <a:solidFill>
            <a:srgbClr val="000000"/>
          </a:solidFill>
          <a:ln w="1016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1422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INITIAL_STATE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43251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snapshot for new/reconnecting clients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06240" y="1005840"/>
            <a:ext cx="4526280" cy="182880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343400" y="109728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Reconnect Flow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43400" y="1481328"/>
            <a:ext cx="164592" cy="164592"/>
          </a:xfrm>
          <a:prstGeom prst="ellipse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90288" y="14447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disconnects mid-match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43400" y="1728216"/>
            <a:ext cx="164592" cy="164592"/>
          </a:xfrm>
          <a:prstGeom prst="ellipse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90288" y="16916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EventSource auto-reconnects via HTTP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43400" y="1975104"/>
            <a:ext cx="164592" cy="164592"/>
          </a:xfrm>
          <a:prstGeom prst="ellipse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90288" y="19385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sends INITIAL_STATE with full match snapshot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43400" y="2221992"/>
            <a:ext cx="164592" cy="164592"/>
          </a:xfrm>
          <a:prstGeom prst="ellipse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0288" y="218541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re-syncs score, innings, commentary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43400" y="2468880"/>
            <a:ext cx="164592" cy="164592"/>
          </a:xfrm>
          <a:prstGeom prst="ellipse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90288" y="243230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events resume seamlessly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06240" y="2971800"/>
            <a:ext cx="45262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343400" y="30632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Benchmarks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343400" y="34107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BALL_EVENT Latency: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34107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ms (engine emit → client)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343400" y="37307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Broadcast (5 clients):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92240" y="37307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ms — no fan-out bottleneck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343400" y="40507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POST Response: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92240" y="40507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 ms average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343400" y="43708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SAVE Latency: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92240" y="43708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ms (dominant component)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B7A3E">
              <a:alpha val="15000"/>
            </a:srgbClr>
          </a:solidFill>
          <a:ln w="19050">
            <a:solidFill>
              <a:srgbClr val="1B7A3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CHAPTER 8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Workspace &amp; Integration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206240" cy="3749040"/>
          </a:xfrm>
          <a:prstGeom prst="roundRect">
            <a:avLst>
              <a:gd name="adj" fmla="val 2927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206240" cy="54864"/>
          </a:xfrm>
          <a:prstGeom prst="rect">
            <a:avLst/>
          </a:prstGeom>
          <a:solidFill>
            <a:srgbClr val="0D7A6B"/>
          </a:solidFill>
          <a:ln w="12700">
            <a:solidFill>
              <a:srgbClr val="0D7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972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 Probability Pipeline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256032" cy="256032"/>
          </a:xfrm>
          <a:prstGeom prst="ellipse">
            <a:avLst/>
          </a:prstGeom>
          <a:solidFill>
            <a:srgbClr val="0D7A6B"/>
          </a:solidFill>
          <a:ln w="12700">
            <a:solidFill>
              <a:srgbClr val="0D7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54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" y="1810512"/>
            <a:ext cx="0" cy="338328"/>
          </a:xfrm>
          <a:prstGeom prst="line">
            <a:avLst/>
          </a:prstGeom>
          <a:noFill/>
          <a:ln w="19050">
            <a:solidFill>
              <a:srgbClr val="0D7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53619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ingestion from match event logs (~50K ball records)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148840"/>
            <a:ext cx="256032" cy="256032"/>
          </a:xfrm>
          <a:prstGeom prst="ellipse">
            <a:avLst/>
          </a:prstGeom>
          <a:solidFill>
            <a:srgbClr val="0D7A6B"/>
          </a:solidFill>
          <a:ln w="12700">
            <a:solidFill>
              <a:srgbClr val="0D7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48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0936" y="2404872"/>
            <a:ext cx="0" cy="338328"/>
          </a:xfrm>
          <a:prstGeom prst="line">
            <a:avLst/>
          </a:prstGeom>
          <a:noFill/>
          <a:ln w="19050">
            <a:solidFill>
              <a:srgbClr val="0D7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13055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CRR, RRR, wickets remaining, innings phase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743200"/>
            <a:ext cx="256032" cy="256032"/>
          </a:xfrm>
          <a:prstGeom prst="ellipse">
            <a:avLst/>
          </a:prstGeom>
          <a:solidFill>
            <a:srgbClr val="0D7A6B"/>
          </a:solidFill>
          <a:ln w="12700">
            <a:solidFill>
              <a:srgbClr val="0D7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936" y="2999232"/>
            <a:ext cx="0" cy="338328"/>
          </a:xfrm>
          <a:prstGeom prst="line">
            <a:avLst/>
          </a:prstGeom>
          <a:noFill/>
          <a:ln w="19050">
            <a:solidFill>
              <a:srgbClr val="0D7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272491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 training (Accuracy ~72%, AUC ~0.76)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337560"/>
            <a:ext cx="256032" cy="256032"/>
          </a:xfrm>
          <a:prstGeom prst="ellipse">
            <a:avLst/>
          </a:prstGeom>
          <a:solidFill>
            <a:srgbClr val="0D7A6B"/>
          </a:solidFill>
          <a:ln w="12700">
            <a:solidFill>
              <a:srgbClr val="0D7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37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0936" y="3593592"/>
            <a:ext cx="0" cy="338328"/>
          </a:xfrm>
          <a:prstGeom prst="line">
            <a:avLst/>
          </a:prstGeom>
          <a:noFill/>
          <a:ln w="19050">
            <a:solidFill>
              <a:srgbClr val="0D7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331927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/predict endpoint for low-latency inference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931920"/>
            <a:ext cx="256032" cy="256032"/>
          </a:xfrm>
          <a:prstGeom prst="ellipse">
            <a:avLst/>
          </a:prstGeom>
          <a:solidFill>
            <a:srgbClr val="0D7A6B"/>
          </a:solidFill>
          <a:ln w="12700">
            <a:solidFill>
              <a:srgbClr val="0D7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" y="391363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flag: WIN_PROBABILITY_MODE=ml_local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1005840"/>
            <a:ext cx="4206240" cy="3749040"/>
          </a:xfrm>
          <a:prstGeom prst="roundRect">
            <a:avLst>
              <a:gd name="adj" fmla="val 2927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1005840"/>
            <a:ext cx="42062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10972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Commentary Intelligence Pipeline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37760" y="1554480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1554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65776" y="1810512"/>
            <a:ext cx="0" cy="338328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76088" y="153619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dataset: 10K event–text pairs from match logs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37760" y="2148840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148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65776" y="2404872"/>
            <a:ext cx="0" cy="338328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76088" y="213055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 embeddings for semantic similarity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937760" y="2743200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65776" y="2999232"/>
            <a:ext cx="0" cy="338328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76088" y="272491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retrieval index — approximate nearest-neighbour search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937760" y="3337560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3337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65776" y="3593592"/>
            <a:ext cx="0" cy="338328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76088" y="331927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ranker training (MRR@5 evaluation)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937760" y="3931920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37760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76088" y="391363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human-rated contextually appropriate (50 test events)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Flags: WIN_PROBABILITY_MODE (legacy | ml_local) — zero-risk gradual adoption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CHAPTER 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Reliability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251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32588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Password Security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4081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hashing with configurable salt rounds — never stored plaintext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362456"/>
            <a:ext cx="18288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005840"/>
            <a:ext cx="4251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10328" y="1325880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Payload Validation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0328" y="14081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schema validation on all API endpoints; invalid payloads → 400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1362456"/>
            <a:ext cx="18288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993392"/>
            <a:ext cx="4251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2313432"/>
            <a:ext cx="109728" cy="1097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Security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23957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sessions with configurable TTL &amp; automatic rotation prevents fixation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2350008"/>
            <a:ext cx="18288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1993392"/>
            <a:ext cx="4251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10328" y="2313432"/>
            <a:ext cx="109728" cy="109728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 Limiting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0328" y="23957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Upstash Redis: fixed-window throttle (configurable max attempts/window)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20640" y="2350008"/>
            <a:ext cx="18288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980944"/>
            <a:ext cx="4251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" y="3300984"/>
            <a:ext cx="109728" cy="109728"/>
          </a:xfrm>
          <a:prstGeom prst="ellipse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072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Route Access Control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" y="33832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Middleware: Public / Authenticated / Creator / Admin per URL pattern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5800" y="3337560"/>
            <a:ext cx="18288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980944"/>
            <a:ext cx="4251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10328" y="3300984"/>
            <a:ext cx="109728" cy="10972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30723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Role-Based Checks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0328" y="33832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Team/HostedMatch/Tournament operations verify OWNER/ADMIN before writes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120640" y="3337560"/>
            <a:ext cx="18288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968496"/>
            <a:ext cx="4251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" y="4288536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059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SSE Security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5488" y="43708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AUTH_ENFORCE_SSE flag requires valid session for realtime stream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5800" y="4325112"/>
            <a:ext cx="18288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3968496"/>
            <a:ext cx="4251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10328" y="4288536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40599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Sequencing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10328" y="43708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sequence numbers — prevents duplication under reconnects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120640" y="4325112"/>
            <a:ext cx="18288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CHAPTER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Results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47472"/>
          </a:xfrm>
          <a:prstGeom prst="roundRect">
            <a:avLst>
              <a:gd name="adj" fmla="val 31579"/>
            </a:avLst>
          </a:prstGeom>
          <a:solidFill>
            <a:srgbClr val="1B7A3E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05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0" y="10058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38160" y="10058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307592"/>
            <a:ext cx="8412480" cy="274320"/>
          </a:xfrm>
          <a:prstGeom prst="roundRect">
            <a:avLst>
              <a:gd name="adj" fmla="val 40000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3533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Start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60320" y="135331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vs Australia → Engine starts, BALL_EVENT within 1s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19872" y="1353312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66534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19872" y="135331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CC71"/>
                </a:solidFill>
              </a:rPr>
              <a:t>PASS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1618488"/>
            <a:ext cx="8412480" cy="274320"/>
          </a:xfrm>
          <a:prstGeom prst="roundRect">
            <a:avLst>
              <a:gd name="adj" fmla="val 40000"/>
            </a:avLst>
          </a:prstGeom>
          <a:solidFill>
            <a:srgbClr val="0F1A2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16642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Innings Auto-Progression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60320" y="16642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balls (20 overs) → Innings transitions automatically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19872" y="166420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66534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19872" y="166420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CC71"/>
                </a:solidFill>
              </a:rPr>
              <a:t>PASS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1929384"/>
            <a:ext cx="8412480" cy="274320"/>
          </a:xfrm>
          <a:prstGeom prst="roundRect">
            <a:avLst>
              <a:gd name="adj" fmla="val 40000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19751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Wickets Handling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60320" y="197510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wicket events → Innings ends, team switches correctly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119872" y="1975104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66534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19872" y="197510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CC71"/>
                </a:solidFill>
              </a:rPr>
              <a:t>PASS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2240280"/>
            <a:ext cx="8412480" cy="274320"/>
          </a:xfrm>
          <a:prstGeom prst="roundRect">
            <a:avLst>
              <a:gd name="adj" fmla="val 40000"/>
            </a:avLst>
          </a:prstGeom>
          <a:solidFill>
            <a:srgbClr val="0F1A2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22860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Reconnect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60320" y="22860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+ reconnect → INITIAL_STATE received, score in sync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119872" y="2286000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66534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9872" y="22860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CC71"/>
                </a:solidFill>
              </a:rPr>
              <a:t>PASS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2551176"/>
            <a:ext cx="8412480" cy="274320"/>
          </a:xfrm>
          <a:prstGeom prst="roundRect">
            <a:avLst>
              <a:gd name="adj" fmla="val 40000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25968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Match Toss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60320" y="2596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 winner RCB, decision BAT → Saved to DB, reflected on control page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19872" y="2596896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66534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19872" y="259689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CC71"/>
                </a:solidFill>
              </a:rPr>
              <a:t>PASS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2862072"/>
            <a:ext cx="8412480" cy="274320"/>
          </a:xfrm>
          <a:prstGeom prst="roundRect">
            <a:avLst>
              <a:gd name="adj" fmla="val 40000"/>
            </a:avLst>
          </a:prstGeom>
          <a:solidFill>
            <a:srgbClr val="0F1A2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29077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XI Validation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560320" y="29077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striker → 400 error "Striker must belong to batting XI"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119872" y="2907792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66534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19872" y="290779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CC71"/>
                </a:solidFill>
              </a:rPr>
              <a:t>PASS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" y="3172968"/>
            <a:ext cx="8412480" cy="274320"/>
          </a:xfrm>
          <a:prstGeom prst="roundRect">
            <a:avLst>
              <a:gd name="adj" fmla="val 40000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02920" y="321868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Probability Chart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560320" y="321868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ball → WIN_PROBABILITY_UPDATE event broadcast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119872" y="321868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66534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19872" y="32186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CC71"/>
                </a:solidFill>
              </a:rPr>
              <a:t>PASS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5760" y="3483864"/>
            <a:ext cx="8412480" cy="274320"/>
          </a:xfrm>
          <a:prstGeom prst="roundRect">
            <a:avLst>
              <a:gd name="adj" fmla="val 40000"/>
            </a:avLst>
          </a:prstGeom>
          <a:solidFill>
            <a:srgbClr val="0F1A2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02920" y="35295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 Generation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560320" y="352958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 event → COMMENTARY broadcast with isWicket:true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119872" y="3529584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66534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352958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CC71"/>
                </a:solidFill>
              </a:rPr>
              <a:t>PASS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65760" y="3794760"/>
            <a:ext cx="8412480" cy="274320"/>
          </a:xfrm>
          <a:prstGeom prst="roundRect">
            <a:avLst>
              <a:gd name="adj" fmla="val 40000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02920" y="3840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Route Protection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560320" y="3840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/account without session → Redirect to /login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119872" y="3840480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66534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19872" y="384048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CC71"/>
                </a:solidFill>
              </a:rPr>
              <a:t>PASS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65760" y="4105656"/>
            <a:ext cx="8412480" cy="274320"/>
          </a:xfrm>
          <a:prstGeom prst="roundRect">
            <a:avLst>
              <a:gd name="adj" fmla="val 40000"/>
            </a:avLst>
          </a:prstGeom>
          <a:solidFill>
            <a:srgbClr val="0F1A2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502920" y="41513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560320" y="415137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failed login attempts → Rate limit error on 11th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119872" y="4151376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66534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19872" y="415137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CC71"/>
                </a:solidFill>
              </a:rPr>
              <a:t>PASS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65760" y="4416552"/>
            <a:ext cx="8412480" cy="274320"/>
          </a:xfrm>
          <a:prstGeom prst="roundRect">
            <a:avLst>
              <a:gd name="adj" fmla="val 40000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502920" y="44622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Timeline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2560320" y="446227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match ends → Sequence-ordered events returned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119872" y="4462272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66534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119872" y="446227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CC71"/>
                </a:solidFill>
              </a:rPr>
              <a:t>PASS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65760" y="4727448"/>
            <a:ext cx="8412480" cy="274320"/>
          </a:xfrm>
          <a:prstGeom prst="roundRect">
            <a:avLst>
              <a:gd name="adj" fmla="val 40000"/>
            </a:avLst>
          </a:prstGeom>
          <a:solidFill>
            <a:srgbClr val="0F1A2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502920" y="4773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Multi-Client Sync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560320" y="47731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browser tabs simultaneously → Identical score at every tick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119872" y="4773168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66534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119872" y="477316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CC71"/>
                </a:solidFill>
              </a:rPr>
              <a:t>PASS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KEY CHALLENGES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Bugs Identified &amp; Fixed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2519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187452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078992"/>
            <a:ext cx="274320" cy="228600"/>
          </a:xfrm>
          <a:prstGeom prst="roundRect">
            <a:avLst>
              <a:gd name="adj" fmla="val 24000"/>
            </a:avLst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1078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Simulation Auto-Start Skip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3898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ENGINE WARN: skipping auto-start (missing toss metadata)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181051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Simulation had no hostedMatchId, so toss metadata was never set, blocking engine start.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304288"/>
            <a:ext cx="411480" cy="18288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6350">
            <a:solidFill>
              <a:srgbClr val="1B7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042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7A3E"/>
                </a:solidFill>
              </a:rPr>
              <a:t>FIX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87552" y="2304288"/>
            <a:ext cx="3538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isSimulation mode and injected default toss metadata (Team A wins toss, elects to bat) before auto-start check.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00600" y="1005840"/>
            <a:ext cx="42519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005840"/>
            <a:ext cx="64008" cy="18745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1078992"/>
            <a:ext cx="274320" cy="228600"/>
          </a:xfrm>
          <a:prstGeom prst="roundRect">
            <a:avLst>
              <a:gd name="adj" fmla="val 24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0789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0" y="1078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Premature Innings Transition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13898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First wicket triggered innings flip — currentInningsIndex jumped to 1 immediately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181051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Innings-end check used playingXI.length (which was 0/1 due to loading bug) instead of hardcoded 10.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2304288"/>
            <a:ext cx="411480" cy="18288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6350">
            <a:solidFill>
              <a:srgbClr val="E539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30428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53935"/>
                </a:solidFill>
              </a:rPr>
              <a:t>FIX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22392" y="2304288"/>
            <a:ext cx="3538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dynamic length check with MAX_WICKETS = 10 constant. Verified: 9 wickets ≠ all-out; 10th wicket triggers correct transition.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017520"/>
            <a:ext cx="42519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017520"/>
            <a:ext cx="64008" cy="1874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090672"/>
            <a:ext cx="274320" cy="228600"/>
          </a:xfrm>
          <a:prstGeom prst="roundRect">
            <a:avLst>
              <a:gd name="adj" fmla="val 24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090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68680" y="3090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Playing XI Loading Bug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340156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Playing XI showing 0/11 despite 12 squad players being added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38221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Component fetched from wrong API endpoint causing response shape mismatch — empty checkbox list.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" y="4315968"/>
            <a:ext cx="411480" cy="18288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31596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565C0"/>
                </a:solidFill>
              </a:rPr>
              <a:t>FIX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87552" y="4315968"/>
            <a:ext cx="3538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endpoint URL and field mapping in React component. Verified both teams' players appear as selectable checkboxes.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3017520"/>
            <a:ext cx="42519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017520"/>
            <a:ext cx="64008" cy="18745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37760" y="3090672"/>
            <a:ext cx="274320" cy="228600"/>
          </a:xfrm>
          <a:prstGeom prst="roundRect">
            <a:avLst>
              <a:gd name="adj" fmla="val 24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090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03520" y="3090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prompt() Not Supported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37760" y="340156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Browser console error: prompt() is not supported in ManageTeamClient.tsx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37760" y="3822192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Native browser dialog APIs (alert/confirm/prompt) don't work in Next.js/Electron environments.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937760" y="4315968"/>
            <a:ext cx="411480" cy="18288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 w="6350">
            <a:solidFill>
              <a:srgbClr val="6A1B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431596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A1B9A"/>
                </a:solidFill>
              </a:rPr>
              <a:t>FIX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22392" y="4315968"/>
            <a:ext cx="35387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with React state-driven inline edit form with name, jersey, and role fields. Full CRUD without native dialogs.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657600"/>
            <a:ext cx="2743200" cy="2743200"/>
          </a:xfrm>
          <a:prstGeom prst="ellipse">
            <a:avLst/>
          </a:prstGeom>
          <a:solidFill>
            <a:srgbClr val="1B7A3E">
              <a:alpha val="15000"/>
            </a:srgbClr>
          </a:solidFill>
          <a:ln w="19050">
            <a:solidFill>
              <a:srgbClr val="1B7A3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CHAPTER 11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&amp; Configuration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566160" cy="1143000"/>
          </a:xfrm>
          <a:prstGeom prst="roundRect">
            <a:avLst>
              <a:gd name="adj" fmla="val 9600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115568"/>
            <a:ext cx="274320" cy="27432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097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Vercel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44475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Frontend-managed deployment. Environment variable injection. SSE requires maxDuration config for streaming routes.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3566160" cy="1143000"/>
          </a:xfrm>
          <a:prstGeom prst="roundRect">
            <a:avLst>
              <a:gd name="adj" fmla="val 9600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441448"/>
            <a:ext cx="274320" cy="27432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4231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Railway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77063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Process-based hosting with managed PostgreSQL &amp; Redis add-ons. Automatic connection string injection. Full-stack.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3566160" cy="1143000"/>
          </a:xfrm>
          <a:prstGeom prst="roundRect">
            <a:avLst>
              <a:gd name="adj" fmla="val 9600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767328"/>
            <a:ext cx="274320" cy="27432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F4C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7490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Self-Hosted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409651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build → npm run start. Custom server/index.ts bootstraps Node.js with SSE pipeline.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0" y="1005840"/>
            <a:ext cx="4617720" cy="1920240"/>
          </a:xfrm>
          <a:prstGeom prst="roundRect">
            <a:avLst>
              <a:gd name="adj" fmla="val 5714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51960" y="10972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Environment Variables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51960" y="14630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7A3E"/>
                </a:solidFill>
              </a:rPr>
              <a:t>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34840" y="146304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DATABASE_URL · REDIS_URL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51960" y="173736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7A3E"/>
                </a:solidFill>
              </a:rPr>
              <a:t>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34840" y="169164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CRICKET_API_KEY · CRICAPI_POLL_INTERVAL_MS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51960" y="201168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7A3E"/>
                </a:solidFill>
              </a:rPr>
              <a:t>•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34840" y="192024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AUTH_COOKIE_NAME · AUTH_SESSION_TTL_SECONDS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251960" y="228600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7A3E"/>
                </a:solidFill>
              </a:rPr>
              <a:t>•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34840" y="214884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AUTH_RATE_LIMIT_WINDOW_SECONDS · MAX_ATTEMPTS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51960" y="25603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7A3E"/>
                </a:solidFill>
              </a:rPr>
              <a:t>•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34840" y="237744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WIN_PROBABILITY_MODE · NEXT_PUBLIC_BASE_URL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0" y="3063240"/>
            <a:ext cx="4617720" cy="1783080"/>
          </a:xfrm>
          <a:prstGeom prst="roundRect">
            <a:avLst>
              <a:gd name="adj" fmla="val 6154"/>
            </a:avLst>
          </a:prstGeom>
          <a:solidFill>
            <a:srgbClr val="12213A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251960" y="31546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Setup Steps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251960" y="3520440"/>
            <a:ext cx="4343400" cy="246888"/>
          </a:xfrm>
          <a:prstGeom prst="roundRect">
            <a:avLst>
              <a:gd name="adj" fmla="val 14815"/>
            </a:avLst>
          </a:prstGeom>
          <a:solidFill>
            <a:srgbClr val="0A1628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3400" y="3538728"/>
            <a:ext cx="4160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ci  (Prisma client auto-generated)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51960" y="3822192"/>
            <a:ext cx="4343400" cy="246888"/>
          </a:xfrm>
          <a:prstGeom prst="roundRect">
            <a:avLst>
              <a:gd name="adj" fmla="val 14815"/>
            </a:avLst>
          </a:prstGeom>
          <a:solidFill>
            <a:srgbClr val="0A1628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3400" y="3840480"/>
            <a:ext cx="4160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.env.example .env.local  (configure vars)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51960" y="4123944"/>
            <a:ext cx="4343400" cy="246888"/>
          </a:xfrm>
          <a:prstGeom prst="roundRect">
            <a:avLst>
              <a:gd name="adj" fmla="val 14815"/>
            </a:avLst>
          </a:prstGeom>
          <a:solidFill>
            <a:srgbClr val="0A1628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3400" y="4142232"/>
            <a:ext cx="4160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prisma migrate dev  (apply migrations)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51960" y="4425696"/>
            <a:ext cx="4343400" cy="246888"/>
          </a:xfrm>
          <a:prstGeom prst="roundRect">
            <a:avLst>
              <a:gd name="adj" fmla="val 14815"/>
            </a:avLst>
          </a:prstGeom>
          <a:solidFill>
            <a:srgbClr val="0A1628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3400" y="4443984"/>
            <a:ext cx="4160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  (tsx server/index.ts)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CHAPTER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&amp; Future Scope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25196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155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45720" cy="3657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5087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1737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both PostgreSQL &amp; Redis for full runtime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029968"/>
            <a:ext cx="45720" cy="3657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0299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Data Quality: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" y="2258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CricAPI provider stability affects live fixtures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551176"/>
            <a:ext cx="45720" cy="3657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55117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Complexity: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27797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feature surface increases maintenance overhead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072384"/>
            <a:ext cx="45720" cy="3657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0723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 Sensitivity: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33009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Misconfigured rollout flags can cause silent degradation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593592"/>
            <a:ext cx="45720" cy="3657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593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Maturity: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legacy model used in default configuration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114800"/>
            <a:ext cx="45720" cy="3657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1148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Optimization: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4343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charts require horizontal scrolling on narrow screens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1005840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0A1628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Enhancement Roadmap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37760" y="1536192"/>
            <a:ext cx="164592" cy="16459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15087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commentary (fine-tuned LLM)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37760" y="1938528"/>
            <a:ext cx="164592" cy="16459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19110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versioning &amp; A/B testing framework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37760" y="2340864"/>
            <a:ext cx="164592" cy="16459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23134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analytics (points table forecasting)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37760" y="2743200"/>
            <a:ext cx="164592" cy="16459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27157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support + push notifications for live fans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937760" y="3145536"/>
            <a:ext cx="164592" cy="16459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31181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scoring with conflict resolution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937760" y="3547872"/>
            <a:ext cx="164592" cy="16459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3520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Kubernetes deployment with auto-scaling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937760" y="3950208"/>
            <a:ext cx="164592" cy="16459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39227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observability dashboards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937760" y="4352544"/>
            <a:ext cx="164592" cy="16459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43251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ball-by-ball match archive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1B7A3E">
              <a:alpha val="15000"/>
            </a:srgbClr>
          </a:solidFill>
          <a:ln w="19050">
            <a:solidFill>
              <a:srgbClr val="1B7A3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B7A3E">
              <a:alpha val="15000"/>
            </a:srgbClr>
          </a:solidFill>
          <a:ln w="19050">
            <a:solidFill>
              <a:srgbClr val="1B7A3E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3657600" cy="3657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6304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0F1E35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5727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engine with correct cricket rules (runs, wickets, extras, innings transitions)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4114800" cy="36576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33472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0F1E35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7432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realtime pipeline with low-latency broadcast and reconnect safety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633472"/>
            <a:ext cx="4114800" cy="36576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803904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0F1E35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91363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hosted match lifecycle from DRAFT to COMPLETED for community organizers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4114800" cy="36576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46304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0F1E35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15727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layer: momentum, win probability, run rate, and match highlights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1463040"/>
            <a:ext cx="4114800" cy="36576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633472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0F1E35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27432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multi-user platform: bcryptjs, Redis sessions, role-based middleware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2633472"/>
            <a:ext cx="4114800" cy="36576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3803904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0F1E35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391363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workspace with feature-flagged XGBoost win probability + commentary RAG pipeline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3803904"/>
            <a:ext cx="4114800" cy="36576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Ashutosh Anand  |  SG22310  |  B.E. CSE  |  UIET Panjab University, Hoshiarpur  | 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2033</Words>
  <Application>Microsoft Office PowerPoint</Application>
  <PresentationFormat>On-screen Show (16:9)</PresentationFormat>
  <Paragraphs>367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CricSmart – Cricket Match Simulation &amp; Analytics Platform</dc:title>
  <dc:subject>PptxGenJS Presentation</dc:subject>
  <dc:creator>Ashutosh Anand</dc:creator>
  <cp:lastModifiedBy>Ashutosh Anand</cp:lastModifiedBy>
  <cp:revision>6</cp:revision>
  <dcterms:created xsi:type="dcterms:W3CDTF">2026-05-28T17:47:28Z</dcterms:created>
  <dcterms:modified xsi:type="dcterms:W3CDTF">2026-05-29T05:57:54Z</dcterms:modified>
</cp:coreProperties>
</file>